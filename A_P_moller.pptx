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Telegraf" panose="020B0604020202020204" charset="0"/>
      <p:regular r:id="rId11"/>
    </p:embeddedFont>
    <p:embeddedFont>
      <p:font typeface="Telegraf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2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3C1D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9606"/>
            <a:ext cx="8324850" cy="3531394"/>
            <a:chOff x="0" y="-9525"/>
            <a:chExt cx="11099800" cy="4708525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352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Assignment Overview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 dirty="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A.P Maersk GenAI Assignment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9144000"/>
            <a:ext cx="832485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 dirty="0">
                <a:solidFill>
                  <a:srgbClr val="E9EFF5"/>
                </a:solidFill>
                <a:latin typeface="Telegraf"/>
                <a:ea typeface="Telegraf"/>
                <a:cs typeface="Telegraf"/>
                <a:sym typeface="Telegraf"/>
              </a:rPr>
              <a:t>Presented by :-Tarun 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33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5103401"/>
            <a:chOff x="0" y="0"/>
            <a:chExt cx="11099800" cy="6804535"/>
          </a:xfrm>
        </p:grpSpPr>
        <p:sp>
          <p:nvSpPr>
            <p:cNvPr id="8" name="TextBox 8"/>
            <p:cNvSpPr txBox="1"/>
            <p:nvPr/>
          </p:nvSpPr>
          <p:spPr>
            <a:xfrm>
              <a:off x="0" y="4916469"/>
              <a:ext cx="11099800" cy="18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The goal is to </a:t>
              </a:r>
              <a:r>
                <a:rPr lang="en-US" sz="2000" b="1" spc="-2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optimize processes</a:t>
              </a: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 within e-commerce platforms, resulting in faster deliveries, reduced costs, and improved customer satisfaction, ultimately driving sales and fostering loyalty in a competitive market.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62350"/>
              <a:ext cx="110998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Enhancing operational workflows and customer experience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E-commerce Efficiency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E9EF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INSIGHTS AND STRATEGIES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2955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00559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496800" y="5525294"/>
            <a:ext cx="5448300" cy="4467600"/>
            <a:chOff x="0" y="0"/>
            <a:chExt cx="643859" cy="74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3859" cy="740663"/>
            </a:xfrm>
            <a:custGeom>
              <a:avLst/>
              <a:gdLst/>
              <a:ahLst/>
              <a:cxnLst/>
              <a:rect l="l" t="t" r="r" b="b"/>
              <a:pathLst>
                <a:path w="643859" h="740663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690929"/>
                  </a:lnTo>
                  <a:cubicBezTo>
                    <a:pt x="643859" y="718396"/>
                    <a:pt x="621592" y="740663"/>
                    <a:pt x="594125" y="740663"/>
                  </a:cubicBezTo>
                  <a:lnTo>
                    <a:pt x="49734" y="740663"/>
                  </a:lnTo>
                  <a:cubicBezTo>
                    <a:pt x="22267" y="740663"/>
                    <a:pt x="0" y="718396"/>
                    <a:pt x="0" y="690929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03" b="-10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496800" y="101663"/>
            <a:ext cx="5448300" cy="4467600"/>
            <a:chOff x="0" y="0"/>
            <a:chExt cx="643859" cy="7406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3859" cy="740663"/>
            </a:xfrm>
            <a:custGeom>
              <a:avLst/>
              <a:gdLst/>
              <a:ahLst/>
              <a:cxnLst/>
              <a:rect l="l" t="t" r="r" b="b"/>
              <a:pathLst>
                <a:path w="643859" h="740663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690929"/>
                  </a:lnTo>
                  <a:cubicBezTo>
                    <a:pt x="643859" y="718396"/>
                    <a:pt x="621592" y="740663"/>
                    <a:pt x="594125" y="740663"/>
                  </a:cubicBezTo>
                  <a:lnTo>
                    <a:pt x="49734" y="740663"/>
                  </a:lnTo>
                  <a:cubicBezTo>
                    <a:pt x="22267" y="740663"/>
                    <a:pt x="0" y="718396"/>
                    <a:pt x="0" y="690929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66750" y="657225"/>
            <a:ext cx="16954500" cy="106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 dirty="0" err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Olist</a:t>
            </a:r>
            <a:r>
              <a:rPr lang="en-US" sz="6999" b="1" spc="-69" dirty="0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 Dataset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026" name="Picture 2" descr="Generated Design dg-e7d6e">
            <a:extLst>
              <a:ext uri="{FF2B5EF4-FFF2-40B4-BE49-F238E27FC236}">
                <a16:creationId xmlns:a16="http://schemas.microsoft.com/office/drawing/2014/main" id="{3A2F962D-6998-A52D-8819-682A7F1AE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14" y="1919216"/>
            <a:ext cx="11328786" cy="722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8793"/>
            <a:ext cx="12639675" cy="1757488"/>
            <a:chOff x="0" y="-19050"/>
            <a:chExt cx="16852900" cy="2343317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System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10"/>
              <a:ext cx="168529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Overview of the design Architecture:-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26D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E9EF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643EB0-5C1C-5840-59AD-5ABF07D2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857500"/>
            <a:ext cx="11145805" cy="5087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581025"/>
            <a:ext cx="115062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u="none" strike="noStrike" spc="-70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 Stack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2457450"/>
            <a:ext cx="5427383" cy="2332839"/>
            <a:chOff x="0" y="0"/>
            <a:chExt cx="7236511" cy="311045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Python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236511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Python serves as the core programming language, providing a versatile and powerful environment for developing the backend of the application, ensuring efficient data processing and algorithm implementation.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970" y="5143500"/>
            <a:ext cx="5429080" cy="2332839"/>
            <a:chOff x="0" y="0"/>
            <a:chExt cx="7238774" cy="311045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OpenAI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OpenAI provides advanced AI models that enhance the application’s capabilities, enabling functionalities like natural language processing and machine learning to offer personalized user experiences and intelligent recommendations.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9070" y="2457450"/>
            <a:ext cx="5429080" cy="2332839"/>
            <a:chOff x="0" y="0"/>
            <a:chExt cx="7238774" cy="311045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Streamlit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Streamlit allows for the rapid development of interactive web applications, enabling users to visualize data insights effectively while facilitating a smooth user experience with intuitive interfaces.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39070" y="5143500"/>
            <a:ext cx="5429080" cy="2685264"/>
            <a:chOff x="0" y="0"/>
            <a:chExt cx="7238774" cy="358035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Gemini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2486"/>
              <a:ext cx="7238774" cy="2827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Gemini offers a robust framework for managing AI applications, integrating seamlessly with other technologies in the stack, enhancing the project’s scalability and overall performance for processing complex data.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170" y="5143500"/>
            <a:ext cx="5429080" cy="2332839"/>
            <a:chOff x="0" y="0"/>
            <a:chExt cx="7238774" cy="311045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ChromaDB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ChromaDB supports the efficient storage and retrieval of data, ensuring that the application can quickly access necessary information, enhancing user interactions with responsive features and real-time data access.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92170" y="2457450"/>
            <a:ext cx="5424446" cy="2332839"/>
            <a:chOff x="0" y="0"/>
            <a:chExt cx="7232595" cy="311045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9525"/>
              <a:ext cx="723259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Pandas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52486"/>
              <a:ext cx="7232595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Pandas is utilized for data manipulation and analysis, allowing for efficient handling of large datasets, ensuring accurate data cleaning, transformation, and insightful exploration of e-commerce data.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83081"/>
            <a:ext cx="12639675" cy="1774349"/>
            <a:chOff x="0" y="0"/>
            <a:chExt cx="16852900" cy="236579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 dirty="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GenAI Implementation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60009"/>
              <a:ext cx="168529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Overview of the framework components used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336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1E1BE1-E85E-4120-2E0A-C16B356B0E28}"/>
              </a:ext>
            </a:extLst>
          </p:cNvPr>
          <p:cNvSpPr txBox="1"/>
          <p:nvPr/>
        </p:nvSpPr>
        <p:spPr>
          <a:xfrm>
            <a:off x="533400" y="2457430"/>
            <a:ext cx="14516100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1️⃣ Objective</a:t>
            </a:r>
          </a:p>
          <a:p>
            <a:pPr>
              <a:buNone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goal of this system is to build an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Agentic GenAI-powered analytics assistant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capable of understanding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natural language questions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and providing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accurate, data-backed insights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from structured e-commerce datasets.</a:t>
            </a:r>
            <a:b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This makes analytics accessible to non-technical users by letting them “chat” directly with the data.</a:t>
            </a:r>
          </a:p>
          <a:p>
            <a:pPr>
              <a:buNone/>
            </a:pPr>
            <a:b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2️⃣ Core Implementation Workflow</a:t>
            </a:r>
          </a:p>
          <a:p>
            <a:pPr>
              <a:buNone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system is designed around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five main stages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</a:t>
            </a: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Step 1: Data Ingestion &amp;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All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9 CSV files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from the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Olist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Brazilian E-commerce dataset are loaded into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Data is cleaned using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Pandas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removing nulls and ensuring consistent formats for merging and querying.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Each dataset (orders, customers, products, payments, etc.) is stored in memory for dynamic analysis.</a:t>
            </a: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Step 2: Intent Detection &amp; Question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user inputs a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natural language query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through the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Streamlit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AI identifies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intent categories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such as payments, delivery, reviews, orders, sellers,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Example: “Which payment method is most used?” → Intent detected: </a:t>
            </a:r>
            <a:r>
              <a:rPr lang="en-US" sz="2000" i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Payment Analysis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Step 3: Data Linking &amp; Query Execution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Based on intent, the relevant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dataframes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are automatically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joined and filtered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system performs computations like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groupby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sum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mean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or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value_counts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()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to generate numerical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Example: For average order value → join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order_items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+ 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products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datasets, then compute mean(price).</a:t>
            </a: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Step 4: AI Reasoning Layer (Explainability)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 reasoning module generates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step-by-step explanations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of how the answer was derived.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This ensures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transparency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where users see both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logic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and </a:t>
            </a:r>
            <a:r>
              <a:rPr lang="en-US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final insight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Example 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“I found that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credit_card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was used in 76% of 100K+ payments across 2016–2018.”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BF0C3F-C10E-3056-89CB-35BF522AE4B9}"/>
              </a:ext>
            </a:extLst>
          </p:cNvPr>
          <p:cNvSpPr txBox="1"/>
          <p:nvPr/>
        </p:nvSpPr>
        <p:spPr>
          <a:xfrm>
            <a:off x="228600" y="571500"/>
            <a:ext cx="13487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Step 5: Insight Generation &amp;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Final summarized insight is returned through the </a:t>
            </a:r>
            <a:r>
              <a:rPr lang="en-US" sz="2000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Streamlit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UI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Users see two panels: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AI Explanation Panel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– Natural language reasoning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Final Answer Panel</a:t>
            </a: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– Clean, highlighted 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Optional visualizations (charts/maps) can be integrated for deeper analytics</a:t>
            </a:r>
            <a:r>
              <a:rPr lang="en-US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2E496A-20FC-D707-7A32-B9247196FC06}"/>
              </a:ext>
            </a:extLst>
          </p:cNvPr>
          <p:cNvSpPr txBox="1"/>
          <p:nvPr/>
        </p:nvSpPr>
        <p:spPr>
          <a:xfrm>
            <a:off x="228600" y="2857500"/>
            <a:ext cx="13487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System Flow (Architecture Summary) :-</a:t>
            </a:r>
          </a:p>
          <a:p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User → </a:t>
            </a:r>
            <a:r>
              <a:rPr lang="en-IN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Streamlit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Frontend → GenAI Agent (Intent &amp; Logic) → Pandas Engine → Dataset → AI Explanation + Answer → UI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FE6A75-582F-6D9A-0184-B69B5B4E7835}"/>
              </a:ext>
            </a:extLst>
          </p:cNvPr>
          <p:cNvSpPr txBox="1"/>
          <p:nvPr/>
        </p:nvSpPr>
        <p:spPr>
          <a:xfrm>
            <a:off x="228600" y="4229100"/>
            <a:ext cx="13639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5️⃣ Innovation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✅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Conversational Analytics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— Query data in plain English.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✅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Agentic AI Logic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— Uses reasoning before answering.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✅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Dataset-aware Insights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— Pulls real numbers from CSVs, not assumptions.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✅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Explainable AI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— Transparent step-by-step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✅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Scalable Design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— Easily extendable to other domains or APIs.</a:t>
            </a:r>
          </a:p>
          <a:p>
            <a:pPr>
              <a:buNone/>
            </a:pPr>
            <a:b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endParaRPr lang="en-IN" sz="20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6️⃣ Conclusion</a:t>
            </a:r>
          </a:p>
          <a:p>
            <a:pPr>
              <a:buNone/>
            </a:pP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This GenAI-based agentic system demonstrates how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structured e-commerce data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can be transformed into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human-like insights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using AI.</a:t>
            </a:r>
            <a:b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It bridges the gap between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analytics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and </a:t>
            </a:r>
            <a:r>
              <a:rPr lang="en-IN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natural conversation</a:t>
            </a:r>
            <a:r>
              <a:rPr lang="en-IN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aligning perfectly with Maersk’s innovation goals in AI-driven automation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6535230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 dirty="0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&amp; Future Enhancements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DA26A-F604-EB35-C71D-C4C18ADECB3F}"/>
              </a:ext>
            </a:extLst>
          </p:cNvPr>
          <p:cNvSpPr txBox="1"/>
          <p:nvPr/>
        </p:nvSpPr>
        <p:spPr>
          <a:xfrm>
            <a:off x="914400" y="2247900"/>
            <a:ext cx="17907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🚀 Future Development Roadmap</a:t>
            </a: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1️⃣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Integrate Large Language Models (LLMs)</a:t>
            </a:r>
            <a:b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Use APIs like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Google Gemini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or </a:t>
            </a:r>
            <a:r>
              <a:rPr lang="en-IN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OpenRouter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(GPT-4, Claude)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interpret complex natural language questions and provide deeper, </a:t>
            </a: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context-aware insights directly from the e-commerce dataset.</a:t>
            </a:r>
          </a:p>
          <a:p>
            <a:pPr>
              <a:buNone/>
            </a:pPr>
            <a:endParaRPr lang="en-IN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2️⃣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Add RAG (Retrieval-Augmented Generation)</a:t>
            </a:r>
            <a:b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Implement a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vector database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(e.g., </a:t>
            </a:r>
            <a:r>
              <a:rPr lang="en-IN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ChromaDB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or FAISS) to store embeddings of dataset summaries, enabling the AI agent to retrieve </a:t>
            </a: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the most relevant data segments before answering.</a:t>
            </a:r>
          </a:p>
          <a:p>
            <a:pPr>
              <a:buNone/>
            </a:pPr>
            <a:endParaRPr lang="en-IN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3️⃣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Interactive Visual Analytics Dashboard</a:t>
            </a:r>
            <a:b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Enhance the </a:t>
            </a:r>
            <a:r>
              <a:rPr lang="en-IN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Streamlit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interface with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interactive charts and graphs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(using </a:t>
            </a:r>
            <a:r>
              <a:rPr lang="en-IN" sz="20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Plotly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or Altair) for real-time visual exploration </a:t>
            </a: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of order trends, payments, and customer demographics.</a:t>
            </a:r>
          </a:p>
          <a:p>
            <a:pPr>
              <a:buNone/>
            </a:pPr>
            <a:endParaRPr lang="en-IN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4️⃣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Conversational Memory and Personalization</a:t>
            </a:r>
            <a:b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Introduce session-based memory so the agent remembers previous user queries and tailors follow-up responses,</a:t>
            </a: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offering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personalized analytical experiences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5️⃣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Cloud Deployment &amp; Scalability</a:t>
            </a:r>
            <a:b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Host the solution on </a:t>
            </a:r>
            <a:r>
              <a:rPr lang="en-IN" sz="20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Streamlit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Cloud or AWS/GCP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integrate with a scalable backend (e.g., PostgreSQL), </a:t>
            </a:r>
          </a:p>
          <a:p>
            <a:pPr>
              <a:buNone/>
            </a:pP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and enable multi-user access with secure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758673" cy="1215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8673" cy="1215678"/>
            </a:xfrm>
            <a:custGeom>
              <a:avLst/>
              <a:gdLst/>
              <a:ahLst/>
              <a:cxnLst/>
              <a:rect l="l" t="t" r="r" b="b"/>
              <a:pathLst>
                <a:path w="758673" h="1215678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7894411" y="701662"/>
            <a:ext cx="8324850" cy="493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endParaRPr lang="en-US" sz="6999" b="1" spc="-69" dirty="0">
              <a:solidFill>
                <a:srgbClr val="E9EF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0" lvl="0" indent="0" algn="l">
              <a:lnSpc>
                <a:spcPts val="7699"/>
              </a:lnSpc>
            </a:pPr>
            <a:endParaRPr lang="en-US" sz="6999" b="1" spc="-69" dirty="0">
              <a:solidFill>
                <a:srgbClr val="E9EF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0" lvl="0" indent="0" algn="l">
              <a:lnSpc>
                <a:spcPts val="7699"/>
              </a:lnSpc>
            </a:pPr>
            <a:endParaRPr lang="en-US" sz="6999" b="1" spc="-69" dirty="0">
              <a:solidFill>
                <a:srgbClr val="E9EF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0" lvl="0" indent="0" algn="l">
              <a:lnSpc>
                <a:spcPts val="7699"/>
              </a:lnSpc>
            </a:pPr>
            <a:endParaRPr lang="en-US" sz="6999" b="1" spc="-69" dirty="0">
              <a:solidFill>
                <a:srgbClr val="E9EF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0" lvl="0" indent="0" algn="l">
              <a:lnSpc>
                <a:spcPts val="7699"/>
              </a:lnSpc>
            </a:pPr>
            <a:r>
              <a:rPr lang="en-US" sz="6999" b="1" spc="-69" dirty="0">
                <a:solidFill>
                  <a:srgbClr val="E9EFF5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58125" y="7829550"/>
            <a:ext cx="5753100" cy="924425"/>
            <a:chOff x="0" y="-104775"/>
            <a:chExt cx="7670800" cy="123256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04775"/>
              <a:ext cx="7670800" cy="674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 spc="-30" dirty="0">
                  <a:solidFill>
                    <a:srgbClr val="E9EF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Website:-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78438"/>
              <a:ext cx="7670800" cy="449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spc="-20" dirty="0">
                  <a:solidFill>
                    <a:srgbClr val="E9EFF5"/>
                  </a:solidFill>
                  <a:latin typeface="Telegraf"/>
                  <a:ea typeface="Telegraf"/>
                  <a:cs typeface="Telegraf"/>
                  <a:sym typeface="Telegraf"/>
                </a:rPr>
                <a:t>https://www.maersk.com/</a:t>
              </a:r>
              <a:endParaRPr lang="en-US" sz="2000" u="none" strike="noStrike" spc="-20" dirty="0">
                <a:solidFill>
                  <a:srgbClr val="E9EFF5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958</Words>
  <Application>Microsoft Office PowerPoint</Application>
  <PresentationFormat>Custom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Telegraf Bold</vt:lpstr>
      <vt:lpstr>Arial</vt:lpstr>
      <vt:lpstr>Telegraf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Assignment Overview</dc:title>
  <dc:creator>Tarun Naik</dc:creator>
  <dc:description>Presentation - Assignment Overview</dc:description>
  <cp:lastModifiedBy>bukhya tarun</cp:lastModifiedBy>
  <cp:revision>2</cp:revision>
  <dcterms:created xsi:type="dcterms:W3CDTF">2006-08-16T00:00:00Z</dcterms:created>
  <dcterms:modified xsi:type="dcterms:W3CDTF">2025-11-12T15:57:35Z</dcterms:modified>
  <dc:identifier>DAG4f57mpFw</dc:identifier>
</cp:coreProperties>
</file>